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Fraunces"/>
      <p:regular r:id="rId18"/>
      <p:bold r:id="rId19"/>
      <p:italic r:id="rId20"/>
      <p:boldItalic r:id="rId21"/>
    </p:embeddedFont>
    <p:embeddedFont>
      <p:font typeface="Work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7TWS5U/v9e5D8k1n4J8nH0dPf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402718-28CA-4C46-A5B3-059A94E6AFF8}">
  <a:tblStyle styleId="{FF402718-28CA-4C46-A5B3-059A94E6AF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aunces-italic.fntdata"/><Relationship Id="rId22" Type="http://schemas.openxmlformats.org/officeDocument/2006/relationships/font" Target="fonts/WorkSans-regular.fntdata"/><Relationship Id="rId21" Type="http://schemas.openxmlformats.org/officeDocument/2006/relationships/font" Target="fonts/Fraunces-boldItalic.fntdata"/><Relationship Id="rId24" Type="http://schemas.openxmlformats.org/officeDocument/2006/relationships/font" Target="fonts/WorkSans-italic.fntdata"/><Relationship Id="rId23" Type="http://schemas.openxmlformats.org/officeDocument/2006/relationships/font" Target="fonts/Work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Work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Fraunces-bold.fntdata"/><Relationship Id="rId18" Type="http://schemas.openxmlformats.org/officeDocument/2006/relationships/font" Target="fonts/Fraunce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36dc480b9fc6e1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436dc480b9fc6e17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800100"/>
            <a:ext cx="914400" cy="47625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14400" y="5772150"/>
            <a:ext cx="10363200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04875" y="742950"/>
            <a:ext cx="92106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Breast Cancer Detection using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04875" y="2281517"/>
            <a:ext cx="5524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Machine Learning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04875" y="5915025"/>
            <a:ext cx="218241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B5B5B"/>
                </a:solidFill>
                <a:latin typeface="Work Sans"/>
                <a:ea typeface="Work Sans"/>
                <a:cs typeface="Work Sans"/>
                <a:sym typeface="Work Sans"/>
              </a:rPr>
              <a:t>Katarzyna Banasik, 28.10.2026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914400" y="2241143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914400" y="2641193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914400" y="3041243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04875" y="771525"/>
            <a:ext cx="71010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Project Overview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904875" y="1427708"/>
            <a:ext cx="9991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This project aims to automate the detection of breast cancer using clinical feature data, focusing on high-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904875" y="1722975"/>
            <a:ext cx="749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recall performance (&gt;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85%) 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to minimize false negatives in malignant cases.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171575" y="2151608"/>
            <a:ext cx="433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Objective: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Build a robust diagnostic classifier.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171575" y="2551658"/>
            <a:ext cx="4429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Dataset: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Breast Cancer Wisconsin (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sklearn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).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171575" y="2951708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Key Metric: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Recall for Malignant class (Sensitivity).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914400" y="19458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14400" y="234591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04875" y="771525"/>
            <a:ext cx="64623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Data Preparation &amp; EDA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904875" y="1427708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The dataset includes 30 numerical features derived from digitized images of fine needle aspirates (FNA).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171575" y="1856333"/>
            <a:ext cx="3590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Normalization 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of the features.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171575" y="2256383"/>
            <a:ext cx="7286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Correlation analysis to identify key predictors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. PCA component analysis. </a:t>
            </a:r>
            <a:endParaRPr/>
          </a:p>
        </p:txBody>
      </p:sp>
      <p:pic>
        <p:nvPicPr>
          <p:cNvPr id="112" name="Google Shape;112;p3" title="Screenshot 2026-10-27 at 20.02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50" y="2656433"/>
            <a:ext cx="5657812" cy="4896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 title="Screenshot 2026-10-27 at 20.02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2075" y="2757825"/>
            <a:ext cx="6404903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4"/>
          <p:cNvGraphicFramePr/>
          <p:nvPr/>
        </p:nvGraphicFramePr>
        <p:xfrm>
          <a:off x="904875" y="20174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{FF402718-28CA-4C46-A5B3-059A94E6AFF8}</a:tableStyleId>
              </a:tblPr>
              <a:tblGrid>
                <a:gridCol w="6177400"/>
                <a:gridCol w="4185800"/>
              </a:tblGrid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A1A1A"/>
                          </a:solidFill>
                        </a:rPr>
                        <a:t>Feature</a:t>
                      </a:r>
                      <a:endParaRPr/>
                    </a:p>
                  </a:txBody>
                  <a:tcPr marT="57150" marB="57150" marR="95250" marL="9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A1A1A"/>
                          </a:solidFill>
                        </a:rPr>
                        <a:t>Importance</a:t>
                      </a:r>
                      <a:endParaRPr/>
                    </a:p>
                  </a:txBody>
                  <a:tcPr marT="57150" marB="57150" marR="95250" marL="95250"/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1A1A1A"/>
                          </a:solidFill>
                        </a:rPr>
                        <a:t>Mean Concave Points</a:t>
                      </a:r>
                      <a:endParaRPr/>
                    </a:p>
                  </a:txBody>
                  <a:tcPr marT="57150" marB="57150" marR="95250" marL="9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1A1A1A"/>
                          </a:solidFill>
                        </a:rPr>
                        <a:t>High</a:t>
                      </a:r>
                      <a:endParaRPr/>
                    </a:p>
                  </a:txBody>
                  <a:tcPr marT="57150" marB="57150" marR="95250" marL="95250"/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1A1A1A"/>
                          </a:solidFill>
                        </a:rPr>
                        <a:t>Worst Radius</a:t>
                      </a:r>
                      <a:endParaRPr/>
                    </a:p>
                  </a:txBody>
                  <a:tcPr marT="57150" marB="57150" marR="95250" marL="9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1A1A1A"/>
                          </a:solidFill>
                        </a:rPr>
                        <a:t>High</a:t>
                      </a:r>
                      <a:endParaRPr/>
                    </a:p>
                  </a:txBody>
                  <a:tcPr marT="57150" marB="57150" marR="95250" marL="95250"/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1A1A1A"/>
                          </a:solidFill>
                        </a:rPr>
                        <a:t>Worst Area</a:t>
                      </a:r>
                      <a:endParaRPr/>
                    </a:p>
                  </a:txBody>
                  <a:tcPr marT="57150" marB="57150" marR="95250" marL="952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1A1A1A"/>
                          </a:solidFill>
                        </a:rPr>
                        <a:t>Medium-High</a:t>
                      </a:r>
                      <a:endParaRPr/>
                    </a:p>
                  </a:txBody>
                  <a:tcPr marT="57150" marB="57150" marR="95250" marL="95250"/>
                </a:tc>
              </a:tr>
            </a:tbl>
          </a:graphicData>
        </a:graphic>
      </p:graphicFrame>
      <p:sp>
        <p:nvSpPr>
          <p:cNvPr id="119" name="Google Shape;119;p4"/>
          <p:cNvSpPr txBox="1"/>
          <p:nvPr/>
        </p:nvSpPr>
        <p:spPr>
          <a:xfrm>
            <a:off x="904875" y="771525"/>
            <a:ext cx="58434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Feature Engineering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904875" y="1427700"/>
            <a:ext cx="1036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Selection of features that provide the most significant separation between classes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, dropping ones that have &lt;0.01 importance after normalization.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14400" y="19458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14400" y="234591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14400" y="27459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904875" y="771525"/>
            <a:ext cx="104154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F5F2EC"/>
                </a:solidFill>
                <a:latin typeface="Fraunces"/>
                <a:ea typeface="Fraunces"/>
                <a:cs typeface="Fraunces"/>
                <a:sym typeface="Fraunces"/>
              </a:rPr>
              <a:t>Model Selection &amp; Methodology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904875" y="1427708"/>
            <a:ext cx="8639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5F2EC"/>
                </a:solidFill>
                <a:latin typeface="Work Sans"/>
                <a:ea typeface="Work Sans"/>
                <a:cs typeface="Work Sans"/>
                <a:sym typeface="Work Sans"/>
              </a:rPr>
              <a:t>Evaluation of multiple algorithms to find the optimal balance of accuracy and clinical safety.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1171575" y="1856333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5F2EC"/>
                </a:solidFill>
                <a:latin typeface="Work Sans"/>
                <a:ea typeface="Work Sans"/>
                <a:cs typeface="Work Sans"/>
                <a:sym typeface="Work Sans"/>
              </a:rPr>
              <a:t>Random Forest Classifier.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1171575" y="2256383"/>
            <a:ext cx="2867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5F2EC"/>
                </a:solidFill>
                <a:latin typeface="Work Sans"/>
                <a:ea typeface="Work Sans"/>
                <a:cs typeface="Work Sans"/>
                <a:sym typeface="Work Sans"/>
              </a:rPr>
              <a:t>Logistic Regression (Baseline).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1171575" y="2656433"/>
            <a:ext cx="30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F5F2EC"/>
                </a:solidFill>
                <a:latin typeface="Work Sans"/>
                <a:ea typeface="Work Sans"/>
                <a:cs typeface="Work Sans"/>
                <a:sym typeface="Work Sans"/>
              </a:rPr>
              <a:t>Support Vector Machines (SVM).</a:t>
            </a:r>
            <a:endParaRPr b="0" i="0" sz="1500">
              <a:solidFill>
                <a:srgbClr val="F5F2E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5F2E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5F2EC"/>
                </a:solidFill>
                <a:latin typeface="Work Sans"/>
                <a:ea typeface="Work Sans"/>
                <a:cs typeface="Work Sans"/>
                <a:sym typeface="Work Sans"/>
              </a:rPr>
              <a:t>Gradient Boosting.</a:t>
            </a:r>
            <a:endParaRPr sz="1500">
              <a:solidFill>
                <a:srgbClr val="F5F2E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5F2E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5F2EC"/>
                </a:solidFill>
                <a:latin typeface="Work Sans"/>
                <a:ea typeface="Work Sans"/>
                <a:cs typeface="Work Sans"/>
                <a:sym typeface="Work Sans"/>
              </a:rPr>
              <a:t>K-nearest neighbours.</a:t>
            </a:r>
            <a:endParaRPr sz="1500">
              <a:solidFill>
                <a:srgbClr val="F5F2E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5F2E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5F2E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14325" y="3187843"/>
            <a:ext cx="133500" cy="1920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14325" y="3749543"/>
            <a:ext cx="133500" cy="1920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818575" y="3885150"/>
            <a:ext cx="98826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F5F2EC"/>
                </a:solidFill>
                <a:latin typeface="Work Sans"/>
                <a:ea typeface="Work Sans"/>
                <a:cs typeface="Work Sans"/>
                <a:sym typeface="Work Sans"/>
              </a:rPr>
              <a:t>I chose the Random Forest classifier because of the highest recall from all.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5" title="Screenshot 2026-10-27 at 20.03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75" y="4429984"/>
            <a:ext cx="7926275" cy="14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914400" y="19458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904875" y="771525"/>
            <a:ext cx="56007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Training Process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904875" y="1427708"/>
            <a:ext cx="560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Optimizing hyperparameters for the Random Forest model.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1171575" y="1856333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RandomSearchCV 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fine-tuning</a:t>
            </a:r>
            <a:endParaRPr/>
          </a:p>
        </p:txBody>
      </p:sp>
      <p:pic>
        <p:nvPicPr>
          <p:cNvPr id="146" name="Google Shape;146;p6" title="Screenshot 2026-10-27 at 20.03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2284958"/>
            <a:ext cx="50863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914400" y="19458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14400" y="234591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914400" y="27459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904875" y="771525"/>
            <a:ext cx="93870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Results: Performance Metrics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904875" y="1427708"/>
            <a:ext cx="4781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Final model performance on the hold-out test set.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1171575" y="1856333"/>
            <a:ext cx="1857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Accuracy: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~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96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%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1171575" y="2256383"/>
            <a:ext cx="475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Precision: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High.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1171575" y="2656425"/>
            <a:ext cx="753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Recall (Malignant):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Target reached (&gt;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8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5%) as the recall is around 97%.</a:t>
            </a:r>
            <a:endParaRPr/>
          </a:p>
        </p:txBody>
      </p:sp>
      <p:pic>
        <p:nvPicPr>
          <p:cNvPr id="159" name="Google Shape;159;p7" title="Screenshot 2026-10-27 at 20.04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75" y="3056475"/>
            <a:ext cx="4295775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 title="Screenshot 2026-10-27 at 20.04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3050" y="3037425"/>
            <a:ext cx="454342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 title="Screenshot 2026-10-27 at 20.04.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8875" y="1466925"/>
            <a:ext cx="1990725" cy="2027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436dc480b9fc6e17_1_9"/>
          <p:cNvSpPr txBox="1"/>
          <p:nvPr/>
        </p:nvSpPr>
        <p:spPr>
          <a:xfrm>
            <a:off x="904875" y="771525"/>
            <a:ext cx="93870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Results: Performance Metrics</a:t>
            </a:r>
            <a:endParaRPr/>
          </a:p>
        </p:txBody>
      </p:sp>
      <p:pic>
        <p:nvPicPr>
          <p:cNvPr id="167" name="Google Shape;167;h436dc480b9fc6e17_1_9" title="Screenshot 2026-10-27 at 20.04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75" y="1401925"/>
            <a:ext cx="4926750" cy="501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914400" y="19458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914400" y="234591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914400" y="2745968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904875" y="771525"/>
            <a:ext cx="64323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API Development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904875" y="1427708"/>
            <a:ext cx="516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Converting the model into a usable service via FastAPI.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2133600" y="1856333"/>
            <a:ext cx="965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/predict</a:t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1171575" y="2256383"/>
            <a:ext cx="2466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Input: JSON feature array.</a:t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1171575" y="2656433"/>
            <a:ext cx="4924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Output: Classification result with probability scores.</a:t>
            </a:r>
            <a:endParaRPr b="0" i="0" sz="1500">
              <a:solidFill>
                <a:srgbClr val="1A1A1A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A1A1A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Details</a:t>
            </a:r>
            <a:r>
              <a:rPr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in the README.md file</a:t>
            </a:r>
            <a:endParaRPr sz="1500">
              <a:solidFill>
                <a:srgbClr val="1A1A1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/>
          <p:nvPr/>
        </p:nvSpPr>
        <p:spPr>
          <a:xfrm>
            <a:off x="914400" y="1593443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914400" y="1993493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914400" y="2393543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914400" y="2793593"/>
            <a:ext cx="133350" cy="19050"/>
          </a:xfrm>
          <a:prstGeom prst="rect">
            <a:avLst/>
          </a:prstGeom>
          <a:solidFill>
            <a:srgbClr val="A23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904875" y="771525"/>
            <a:ext cx="84387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1A1A1A"/>
                </a:solidFill>
                <a:latin typeface="Fraunces"/>
                <a:ea typeface="Fraunces"/>
                <a:cs typeface="Fraunces"/>
                <a:sym typeface="Fraunces"/>
              </a:rPr>
              <a:t>System Architecture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171575" y="1503908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Model: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Scikit-learn / Joblib.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1171575" y="1903958"/>
            <a:ext cx="3295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Web Framework: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FastAPI (Python).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1171575" y="2304008"/>
            <a:ext cx="3543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Infrastructure: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Dockerized Container.</a:t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1171575" y="2704058"/>
            <a:ext cx="396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Deployment:</a:t>
            </a:r>
            <a:r>
              <a:rPr b="0" i="0" lang="en-US" sz="1500">
                <a:solidFill>
                  <a:srgbClr val="1A1A1A"/>
                </a:solidFill>
                <a:latin typeface="Work Sans"/>
                <a:ea typeface="Work Sans"/>
                <a:cs typeface="Work Sans"/>
                <a:sym typeface="Work Sans"/>
              </a:rPr>
              <a:t> Cloud-ready (GCP / Heroku).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914400" y="5772150"/>
            <a:ext cx="10363200" cy="9525"/>
          </a:xfrm>
          <a:prstGeom prst="rect">
            <a:avLst/>
          </a:prstGeom>
          <a:solidFill>
            <a:srgbClr val="E2D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904875" y="771525"/>
            <a:ext cx="50547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>
                <a:solidFill>
                  <a:srgbClr val="F5F2EC"/>
                </a:solidFill>
                <a:latin typeface="Fraunces"/>
                <a:ea typeface="Fraunces"/>
                <a:cs typeface="Fraunces"/>
                <a:sym typeface="Fraunces"/>
              </a:rPr>
              <a:t>Thank You!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904875" y="1484858"/>
            <a:ext cx="44862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>
                <a:solidFill>
                  <a:srgbClr val="5B5B5B"/>
                </a:solidFill>
                <a:latin typeface="Work Sans"/>
                <a:ea typeface="Work Sans"/>
                <a:cs typeface="Work Sans"/>
                <a:sym typeface="Work Sans"/>
              </a:rPr>
              <a:t>Questions? Feel free to reach out via GitHub.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904875" y="5915025"/>
            <a:ext cx="25599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9C3B8"/>
                </a:solidFill>
                <a:latin typeface="Work Sans"/>
                <a:ea typeface="Work Sans"/>
                <a:cs typeface="Work Sans"/>
                <a:sym typeface="Work Sans"/>
              </a:rPr>
              <a:t>Katarzyna Banasik, 28.10.2026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